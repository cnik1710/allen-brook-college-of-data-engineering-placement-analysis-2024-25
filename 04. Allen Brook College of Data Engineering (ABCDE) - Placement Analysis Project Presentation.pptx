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70" r:id="rId5"/>
    <p:sldId id="260" r:id="rId6"/>
    <p:sldId id="269" r:id="rId7"/>
    <p:sldId id="261" r:id="rId8"/>
    <p:sldId id="264" r:id="rId9"/>
    <p:sldId id="265" r:id="rId10"/>
    <p:sldId id="266" r:id="rId11"/>
    <p:sldId id="271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C95-068C-3B43-88D8-E9CDB880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26B2-92B4-B808-67B3-27FEC1A6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93E1-B1BC-5CB4-8331-D7E32F4F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C31A0-8114-E951-E69B-71BD7797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0FD2A-BDF4-0113-B6F5-E0A1486E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AABB-5ACE-2CCB-FD82-46DAAC10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BE3E-9027-A892-3794-3DA28611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55BDF-8E91-5184-EF9B-A95B9240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DEA5-072E-80F1-80C3-FE312C9B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AD3-D7B6-7844-557E-B89E29C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1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A09-0CEF-9665-E2C3-D84FE0DB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1F0D-841D-5D22-4753-17E6591F2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078B-A0AC-65C4-D192-E0B214B3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5999-1738-4CC6-39C3-7AF3489D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DDEF-7E03-99D0-F896-D0E33313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5E9-04F0-C3F6-6A9E-A61D39A9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84DE-23BB-247F-72E7-57A866B43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1C973-FDEE-DFB7-8992-BB84543E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DE9F4-164A-119B-CCE2-DAF82FCC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8C4D-75FC-950B-6E19-57C44F1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D81-6D82-C6EC-5813-8C349CB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E509-7E6F-79A5-A71A-9FEE5351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6EB0-A12C-105A-1529-D725F5BC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C07A-1128-CD2A-12A2-425722C47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FA242-5314-56B5-DB18-9CC2AF6E4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3876-9E67-06B7-C143-22E74B1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1318A-EA73-F3AC-CB42-AF83872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FFF0-1614-6812-2D64-1D39360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59242-4095-573E-630B-745F14F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6E4-3D39-66E0-BB9B-E3A86D12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C402B-E665-51FB-DE1E-F7CCDFC7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E8EC-58F3-616C-754A-A1E7298F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2BC1-A270-F350-BD9B-81ED3B5C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7D37E-AED5-7AB5-CD22-2BC6B9D4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A41DB-AFC0-4C66-9E51-1D719A71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0B64-1984-743C-DBD3-A5A8C2B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07C-3FA7-E993-CD0A-57F301E8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7942-350D-2AFF-3706-984C4C4B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263E-FDF6-5F83-13C6-EBF8E189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5310-E2B2-347A-02E2-2B9BD735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D8DC-2029-246F-1B88-22CBAE44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0C36D-2798-BF05-175A-DEF202E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5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CD89-9132-ADA2-91AC-77C0C5C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F999-C7A0-E4B9-11E4-44CC395F8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C211B-6B2C-B9AD-EB21-630603C08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43E14-2BB4-C435-0DBE-ABDB7E26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03E5-7478-E6AD-9609-5582532E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6FAB-086E-3147-FC1B-551DF503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5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95FF-A624-D8D7-B8C2-990A0866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8F493-EB84-B74F-9F07-60773D052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3D7B-601F-2698-DCA1-08FA3391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A7A8-9F0E-4302-779D-8FEFFF2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D65A8-781C-DEB3-FAFE-06746BEE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5C3E-7CCC-C648-0D43-EF24FA836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2315C-54A2-EBD9-245C-11F9A4029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65EA-48E7-A7DD-BE84-CC499648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75-52AA-199F-390C-01BDB738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0AB6D-1078-E23D-16E4-3BD4C065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FAA4B-462F-188A-1C46-723A15EF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81D4-0C32-F199-9C0C-E05908796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298D-C4AF-2A6C-D43D-821EFC50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7544-862A-4013-B8B9-5263AB4C5B4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B4F22-9FA3-414B-4D31-6787AB8D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2845-6857-54F3-962B-8B9F18AA2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0B86-95F4-4A33-B47F-08CB2E6C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3E-E910-9290-37C4-DD2DB0763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920240"/>
            <a:ext cx="11265408" cy="15897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Allen Brook College of Data Engineering (ABCDE) - Placement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C9FC-B57D-C06E-4229-BAE4DD7A2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80959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3005-EF02-6364-1B69-17CDC333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9575"/>
          </a:xfrm>
        </p:spPr>
        <p:txBody>
          <a:bodyPr/>
          <a:lstStyle/>
          <a:p>
            <a:r>
              <a:rPr lang="en-US" b="1" dirty="0"/>
              <a:t>🎯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C5CD-9ACB-8BFE-02FB-572BC604A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7048"/>
            <a:ext cx="12192000" cy="5330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develop an interactive Placement Analytics Dashboard to analyze placement performance and key salary drivers for Allen Brook College of Data Engineering (ABCDE).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Evaluate placement outcomes to uncover </a:t>
            </a:r>
            <a:r>
              <a:rPr lang="en-US" sz="1500" b="1" dirty="0"/>
              <a:t>factors</a:t>
            </a:r>
            <a:r>
              <a:rPr lang="en-US" sz="1500" dirty="0"/>
              <a:t>—</a:t>
            </a:r>
            <a:r>
              <a:rPr lang="en-US" sz="1500" b="1" dirty="0"/>
              <a:t>CGPA, degree background, specialization, gender, work experience</a:t>
            </a:r>
            <a:r>
              <a:rPr lang="en-US" sz="1500" dirty="0"/>
              <a:t>—that </a:t>
            </a:r>
            <a:r>
              <a:rPr lang="en-US" sz="1500" b="1" dirty="0"/>
              <a:t>influence placement success and salary levels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Build an interactive Excel dashboard for college administrators, career services, and students.</a:t>
            </a:r>
          </a:p>
          <a:p>
            <a:pPr lvl="1"/>
            <a:r>
              <a:rPr lang="en-US" sz="1500" dirty="0"/>
              <a:t>Provide actionable recommendations to improve placement support and student readiness.</a:t>
            </a:r>
          </a:p>
          <a:p>
            <a:pPr marL="457200" lvl="1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Key KPIs:</a:t>
            </a:r>
            <a:r>
              <a:rPr lang="en-US" sz="1500" dirty="0"/>
              <a:t> 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Overall Placement Rate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Total Students by Gender/Background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Average Salary by Gender/Background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Placement Rate by Gender/Background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Average Salary by CGPA Band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Top-paying Specializations</a:t>
            </a:r>
            <a:endParaRPr lang="en-US" alt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  <a:r>
              <a:rPr lang="en-US" sz="1500" dirty="0"/>
              <a:t> </a:t>
            </a:r>
          </a:p>
          <a:p>
            <a:pPr lvl="1"/>
            <a:r>
              <a:rPr lang="en-US" sz="1500" dirty="0"/>
              <a:t>Excel dashboard, presentation slides, and a concise insights report.</a:t>
            </a:r>
          </a:p>
        </p:txBody>
      </p:sp>
    </p:spTree>
    <p:extLst>
      <p:ext uri="{BB962C8B-B14F-4D97-AF65-F5344CB8AC3E}">
        <p14:creationId xmlns:p14="http://schemas.microsoft.com/office/powerpoint/2010/main" val="406246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A23C-B2DE-D4AB-6A71-E3A9B38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11C1-0B9E-25CD-C807-246ECE4D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4168"/>
            <a:ext cx="12192000" cy="5312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  <a:endParaRPr lang="en-US" sz="1500" dirty="0"/>
          </a:p>
          <a:p>
            <a:pPr lvl="1"/>
            <a:r>
              <a:rPr lang="en-US" sz="1500" dirty="0"/>
              <a:t>Analyzed placement records of </a:t>
            </a:r>
            <a:r>
              <a:rPr lang="en-US" sz="1500" b="1" dirty="0"/>
              <a:t>215 students</a:t>
            </a:r>
            <a:r>
              <a:rPr lang="en-US" sz="1500" dirty="0"/>
              <a:t> from </a:t>
            </a:r>
            <a:r>
              <a:rPr lang="en-US" sz="1500" b="1" dirty="0"/>
              <a:t>Allen Brook College of Data Engineering (ABCDE)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Dataset covers </a:t>
            </a:r>
            <a:r>
              <a:rPr lang="en-US" sz="1500" b="1" dirty="0"/>
              <a:t>academic metrics</a:t>
            </a:r>
            <a:r>
              <a:rPr lang="en-US" sz="1500" dirty="0"/>
              <a:t> (degree type, specialization, CGPA), </a:t>
            </a:r>
            <a:r>
              <a:rPr lang="en-US" sz="1500" b="1" dirty="0"/>
              <a:t>demographics</a:t>
            </a:r>
            <a:r>
              <a:rPr lang="en-US" sz="1500" dirty="0"/>
              <a:t> (gender, work experience), and </a:t>
            </a:r>
            <a:r>
              <a:rPr lang="en-US" sz="1500" b="1" dirty="0"/>
              <a:t>placement outcomes</a:t>
            </a:r>
            <a:r>
              <a:rPr lang="en-US" sz="1500" dirty="0"/>
              <a:t> (status, salary).</a:t>
            </a:r>
          </a:p>
          <a:p>
            <a:pPr lvl="1"/>
            <a:r>
              <a:rPr lang="en-US" sz="1500" dirty="0"/>
              <a:t>Demonstrates how </a:t>
            </a:r>
            <a:r>
              <a:rPr lang="en-US" sz="1500" b="1" dirty="0"/>
              <a:t>data analytics empowers institutional decisions</a:t>
            </a:r>
            <a:r>
              <a:rPr lang="en-US" sz="1500" dirty="0"/>
              <a:t> to optimize placement strategies and student performance evaluation.</a:t>
            </a:r>
          </a:p>
          <a:p>
            <a:pPr lvl="1"/>
            <a:r>
              <a:rPr lang="en-US" sz="1500" dirty="0"/>
              <a:t>Built an </a:t>
            </a:r>
            <a:r>
              <a:rPr lang="en-US" sz="1500" b="1" dirty="0"/>
              <a:t>interactive Placement Analytics Dashboard</a:t>
            </a:r>
            <a:r>
              <a:rPr lang="en-US" sz="1500" dirty="0"/>
              <a:t> using Excel (Pivot Tables, Charts, and KPI visuals).</a:t>
            </a:r>
            <a:br>
              <a:rPr lang="en-US" sz="1500" dirty="0"/>
            </a:br>
            <a:r>
              <a:rPr lang="en-US" sz="1500" dirty="0"/>
              <a:t>	Key insights derived on:</a:t>
            </a:r>
          </a:p>
          <a:p>
            <a:pPr lvl="2"/>
            <a:r>
              <a:rPr lang="en-US" sz="1500" dirty="0"/>
              <a:t>Overall placement rate and salary distribution</a:t>
            </a:r>
          </a:p>
          <a:p>
            <a:pPr lvl="2"/>
            <a:r>
              <a:rPr lang="en-US" sz="1500" dirty="0"/>
              <a:t>CGPA-to-salary correlation patterns</a:t>
            </a:r>
          </a:p>
          <a:p>
            <a:pPr lvl="2"/>
            <a:r>
              <a:rPr lang="en-US" sz="1500" dirty="0"/>
              <a:t>Gender and background-based placement trends</a:t>
            </a:r>
          </a:p>
          <a:p>
            <a:pPr lvl="2"/>
            <a:r>
              <a:rPr lang="en-US" sz="1500" dirty="0"/>
              <a:t>Specialization-wise salary contributions</a:t>
            </a:r>
            <a:br>
              <a:rPr lang="en-US" sz="1500" dirty="0"/>
            </a:b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9623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F875-9F25-AA25-29FB-365E0A2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5567"/>
          </a:xfrm>
        </p:spPr>
        <p:txBody>
          <a:bodyPr/>
          <a:lstStyle/>
          <a:p>
            <a:r>
              <a:rPr lang="en-US" b="1" dirty="0"/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9BB7-20FF-1AFC-C596-6CA37E3E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Data Source: 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</a:t>
            </a:r>
            <a:r>
              <a:rPr lang="en-US" sz="1500" b="1" dirty="0"/>
              <a:t>Fictionalized college placement dataset</a:t>
            </a:r>
            <a:r>
              <a:rPr lang="en-US" sz="1500" dirty="0"/>
              <a:t> (inspired by open educational datasets).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student records and outcomes (placement status and salary).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One-time snapshot for the academic year </a:t>
            </a:r>
            <a:r>
              <a:rPr lang="en-US" sz="1500" b="1" dirty="0"/>
              <a:t>2024-25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Student-level records. </a:t>
            </a:r>
          </a:p>
          <a:p>
            <a:pPr lvl="1"/>
            <a:r>
              <a:rPr lang="en-US" sz="1500" b="1" dirty="0"/>
              <a:t>Total Rows: 215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Approximately </a:t>
            </a:r>
            <a:r>
              <a:rPr lang="en-US" sz="1500" b="1" dirty="0"/>
              <a:t>15 features</a:t>
            </a:r>
            <a:r>
              <a:rPr lang="en-US" sz="1500" dirty="0"/>
              <a:t> covering three main buckets: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Gender, Work Experience (Yes/No).</a:t>
            </a:r>
          </a:p>
          <a:p>
            <a:pPr lvl="2"/>
            <a:r>
              <a:rPr lang="en-US" sz="1500" b="1" dirty="0"/>
              <a:t>Academics:</a:t>
            </a:r>
            <a:r>
              <a:rPr lang="en-US" sz="1500" dirty="0"/>
              <a:t> Secondary percentage (</a:t>
            </a:r>
            <a:r>
              <a:rPr lang="en-US" sz="1500" dirty="0" err="1"/>
              <a:t>ssc_p</a:t>
            </a:r>
            <a:r>
              <a:rPr lang="en-US" sz="1500" dirty="0"/>
              <a:t>), Higher Secondary percentage (</a:t>
            </a:r>
            <a:r>
              <a:rPr lang="en-US" sz="1500" dirty="0" err="1"/>
              <a:t>hsc_p</a:t>
            </a:r>
            <a:r>
              <a:rPr lang="en-US" sz="1500" dirty="0"/>
              <a:t>) &amp; background (</a:t>
            </a:r>
            <a:r>
              <a:rPr lang="en-US" sz="1500" dirty="0" err="1"/>
              <a:t>hsc_b</a:t>
            </a:r>
            <a:r>
              <a:rPr lang="en-US" sz="1500" dirty="0"/>
              <a:t>), Degree percentage (</a:t>
            </a:r>
            <a:r>
              <a:rPr lang="en-US" sz="1500" dirty="0" err="1"/>
              <a:t>degree_p</a:t>
            </a:r>
            <a:r>
              <a:rPr lang="en-US" sz="1500" dirty="0"/>
              <a:t>) &amp; degree type (</a:t>
            </a:r>
            <a:r>
              <a:rPr lang="en-US" sz="1500" dirty="0" err="1"/>
              <a:t>degree_t</a:t>
            </a:r>
            <a:r>
              <a:rPr lang="en-US" sz="1500" dirty="0"/>
              <a:t>) and MBA percentage (</a:t>
            </a:r>
            <a:r>
              <a:rPr lang="en-US" sz="1500" dirty="0" err="1"/>
              <a:t>mba_p</a:t>
            </a:r>
            <a:r>
              <a:rPr lang="en-US" sz="1500" dirty="0"/>
              <a:t>) - Backgrounds/Types Specialization – </a:t>
            </a:r>
            <a:r>
              <a:rPr lang="en-US" sz="1500" dirty="0" err="1"/>
              <a:t>Mkt&amp;Fin</a:t>
            </a:r>
            <a:r>
              <a:rPr lang="en-US" sz="1500" dirty="0"/>
              <a:t> / </a:t>
            </a:r>
            <a:r>
              <a:rPr lang="en-US" sz="1500" dirty="0" err="1"/>
              <a:t>Mkt&amp;HR</a:t>
            </a:r>
            <a:endParaRPr lang="en-US" sz="1500" dirty="0"/>
          </a:p>
          <a:p>
            <a:pPr lvl="2"/>
            <a:r>
              <a:rPr lang="en-US" sz="1500" b="1" dirty="0"/>
              <a:t>Placement:</a:t>
            </a:r>
            <a:r>
              <a:rPr lang="en-US" sz="1500" dirty="0"/>
              <a:t> Placement Status and Salary.</a:t>
            </a:r>
          </a:p>
          <a:p>
            <a:pPr lvl="1"/>
            <a:r>
              <a:rPr lang="en-US" sz="1500" b="1" dirty="0"/>
              <a:t>Calculated Metrics:</a:t>
            </a:r>
            <a:r>
              <a:rPr lang="en-US" sz="1500" dirty="0"/>
              <a:t> Binary Placement Status (</a:t>
            </a:r>
            <a:r>
              <a:rPr lang="en-US" sz="1500" dirty="0" err="1"/>
              <a:t>placement_flag</a:t>
            </a:r>
            <a:r>
              <a:rPr lang="en-US" sz="1500" dirty="0"/>
              <a:t> = 1/0) derived for classification modeling.</a:t>
            </a:r>
          </a:p>
          <a:p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8714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CC1-EFEF-BEAF-C2B8-1AB88131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941831"/>
          </a:xfrm>
        </p:spPr>
        <p:txBody>
          <a:bodyPr/>
          <a:lstStyle/>
          <a:p>
            <a:r>
              <a:rPr lang="en-US" b="1" dirty="0"/>
              <a:t>💻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3795-59C2-C8C4-42AB-E1A39BBA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2224"/>
            <a:ext cx="12192000" cy="5065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r>
              <a:rPr lang="en-US" sz="1500" b="1" dirty="0"/>
              <a:t>Excel</a:t>
            </a:r>
            <a:endParaRPr lang="en-US" sz="1500" dirty="0"/>
          </a:p>
          <a:p>
            <a:pPr lvl="1"/>
            <a:r>
              <a:rPr lang="en-US" sz="1500" dirty="0"/>
              <a:t>Data cleaning &amp; preprocessing</a:t>
            </a:r>
          </a:p>
          <a:p>
            <a:pPr lvl="1"/>
            <a:r>
              <a:rPr lang="en-US" sz="1500" dirty="0"/>
              <a:t>Pivot Tables for aggregation</a:t>
            </a:r>
          </a:p>
          <a:p>
            <a:pPr lvl="1"/>
            <a:r>
              <a:rPr lang="en-US" sz="1500" dirty="0"/>
              <a:t>Pivot Charts for visualizations</a:t>
            </a:r>
          </a:p>
          <a:p>
            <a:pPr lvl="1"/>
            <a:r>
              <a:rPr lang="en-US" sz="1500" dirty="0"/>
              <a:t>Slicers/filters for interactivity</a:t>
            </a:r>
          </a:p>
          <a:p>
            <a:pPr lvl="1"/>
            <a:r>
              <a:rPr lang="en-US" sz="1500" dirty="0"/>
              <a:t>Dashboard creation</a:t>
            </a:r>
          </a:p>
          <a:p>
            <a:pPr marL="457200" lvl="1" indent="0">
              <a:buNone/>
            </a:pPr>
            <a:endParaRPr lang="en-US" sz="1500" dirty="0"/>
          </a:p>
          <a:p>
            <a:r>
              <a:rPr lang="en-US" sz="1500" b="1" dirty="0"/>
              <a:t>PowerPoint</a:t>
            </a:r>
          </a:p>
          <a:p>
            <a:pPr lvl="1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7254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AB8A-5CFE-CCAC-E69D-C447432B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42999"/>
          </a:xfrm>
        </p:spPr>
        <p:txBody>
          <a:bodyPr/>
          <a:lstStyle/>
          <a:p>
            <a:r>
              <a:rPr lang="en-US" b="1" dirty="0"/>
              <a:t>📈 Methodology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5D1F-81FB-50DF-A327-090C18275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4480"/>
            <a:ext cx="12192000" cy="530351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Preparation, Process &amp; Analytical Approach: </a:t>
            </a:r>
            <a:endParaRPr lang="en-US" altLang="en-US" sz="15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Data Preparation &amp; Cleaning:</a:t>
            </a:r>
            <a:endParaRPr lang="en-US" altLang="en-US" sz="1500" dirty="0">
              <a:solidFill>
                <a:srgbClr val="000000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Removed missing, duplicate, and inconsistent values to maintain data reliability.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Standardized categorical fields such as Degree Type and Specialization for uniform analysis.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Ensured consistent formatting for CGPA, salary, and placement status fields.</a:t>
            </a: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Data Modeling &amp; Integration: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Organized data into analysis-ready tables to support aggregation and segmentation.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Established relationships between academic background, placement status, and salary metrics.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Prepared structured datasets optimized for pivot-based analysis.</a:t>
            </a: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Feature Engineering: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Created a derived field </a:t>
            </a:r>
            <a:r>
              <a:rPr lang="en-US" altLang="en-US" sz="1500" dirty="0" err="1">
                <a:solidFill>
                  <a:srgbClr val="000000"/>
                </a:solidFill>
              </a:rPr>
              <a:t>placement_flag</a:t>
            </a:r>
            <a:r>
              <a:rPr lang="en-US" altLang="en-US" sz="1500" dirty="0">
                <a:solidFill>
                  <a:srgbClr val="000000"/>
                </a:solidFill>
              </a:rPr>
              <a:t> (1 = Placed, 0 = Not Placed) to simplify KPI calculations.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Grouped CGPA into defined ranges (e.g., 5.00–5.99, 6.00–6.99, etc.) for trend analysis and comparisons.</a:t>
            </a: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Visualization Design: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Used Pivot Tables to summarize placement rates, salary metrics, and academic distributions.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Built Pivot Charts to visualize trends across CGPA, specialization, gender, and background.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Implemented Slicers &amp; Filters to enable dynamic, interactive exploration of the dashboard.</a:t>
            </a: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b="1" dirty="0">
                <a:solidFill>
                  <a:srgbClr val="000000"/>
                </a:solidFill>
              </a:rPr>
              <a:t>Validation &amp; Formatting:</a:t>
            </a: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Cross-verified KPI calculations such as placement rate, average salary, and salary extremes.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Ensured visual consistency through standardized labels, scales, and color themes.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</a:rPr>
              <a:t>Optimized dashboard layout for clarity, readability, and executive-level interpretation.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10222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364-0492-B600-B71D-7308CF39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891A-E906-1C31-DD82-A1AE72E5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880"/>
            <a:ext cx="12192000" cy="5532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College often collect detailed placement data, but it remains </a:t>
            </a:r>
            <a:r>
              <a:rPr lang="en-US" sz="1500" b="1" dirty="0"/>
              <a:t>scattered and underutilized</a:t>
            </a:r>
            <a:r>
              <a:rPr lang="en-US" sz="1500" dirty="0"/>
              <a:t>, leading to limited visibility into placement performance, salary trends, and academic correlations.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dirty="0"/>
              <a:t>Without consolidated insights, it becomes difficult to identify performance gaps or guide students effectively.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What is the </a:t>
            </a:r>
            <a:r>
              <a:rPr lang="en-US" sz="1500" b="1" dirty="0"/>
              <a:t>overall placement rate </a:t>
            </a:r>
            <a:r>
              <a:rPr lang="en-US" sz="1500" dirty="0"/>
              <a:t>of the college?</a:t>
            </a:r>
          </a:p>
          <a:p>
            <a:pPr lvl="1"/>
            <a:r>
              <a:rPr lang="en-US" sz="1500" dirty="0"/>
              <a:t>How do </a:t>
            </a:r>
            <a:r>
              <a:rPr lang="en-US" sz="1500" b="1" dirty="0"/>
              <a:t>CGPA and specialization influence placement and salary outcomes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Are there </a:t>
            </a:r>
            <a:r>
              <a:rPr lang="en-US" sz="1500" b="1" dirty="0"/>
              <a:t>gender-based or academic background-based differences in placement </a:t>
            </a:r>
            <a:r>
              <a:rPr lang="en-US" sz="1500" dirty="0"/>
              <a:t>results?</a:t>
            </a:r>
          </a:p>
          <a:p>
            <a:pPr lvl="1"/>
            <a:r>
              <a:rPr lang="en-US" sz="1500" dirty="0"/>
              <a:t>What are the </a:t>
            </a:r>
            <a:r>
              <a:rPr lang="en-US" sz="1500" b="1" dirty="0"/>
              <a:t>average, highest, and lowest salary patterns</a:t>
            </a:r>
            <a:r>
              <a:rPr lang="en-US" sz="1500" dirty="0"/>
              <a:t> across different student segments?</a:t>
            </a:r>
          </a:p>
          <a:p>
            <a:pPr lvl="1"/>
            <a:r>
              <a:rPr lang="en-US" sz="1500" dirty="0"/>
              <a:t>How can the college leverage these insights to </a:t>
            </a:r>
            <a:r>
              <a:rPr lang="en-US" sz="1500" b="1" dirty="0"/>
              <a:t>improve placement strategies and student preparedness</a:t>
            </a:r>
            <a:r>
              <a:rPr lang="en-US" sz="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107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B95-A278-B684-4FC9-8094BB85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87551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5318A-12FB-991F-94CA-32590DF9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67401"/>
            <a:ext cx="12192000" cy="3898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Placement Rate:</a:t>
            </a:r>
            <a:r>
              <a:rPr lang="en-US" sz="1500" dirty="0"/>
              <a:t> </a:t>
            </a:r>
            <a:r>
              <a:rPr lang="en-US" sz="1500" b="1" dirty="0"/>
              <a:t>69% of students</a:t>
            </a:r>
            <a:r>
              <a:rPr lang="en-US" sz="1500" dirty="0"/>
              <a:t> (148 out of 215) were successfully </a:t>
            </a:r>
            <a:r>
              <a:rPr lang="en-US" sz="1500" b="1" dirty="0"/>
              <a:t>placed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Gender Gap:</a:t>
            </a:r>
            <a:r>
              <a:rPr lang="en-US" sz="1500" dirty="0"/>
              <a:t> </a:t>
            </a:r>
            <a:r>
              <a:rPr lang="en-US" sz="1500" b="1" dirty="0"/>
              <a:t>Males</a:t>
            </a:r>
            <a:r>
              <a:rPr lang="en-US" sz="1500" dirty="0"/>
              <a:t> earned a </a:t>
            </a:r>
            <a:r>
              <a:rPr lang="en-US" sz="1500" b="1" dirty="0"/>
              <a:t>higher average salary</a:t>
            </a:r>
            <a:r>
              <a:rPr lang="en-US" sz="1500" dirty="0"/>
              <a:t> (₹2.15 LPA) compared to females (₹1.69 LPA).</a:t>
            </a:r>
          </a:p>
          <a:p>
            <a:pPr lvl="1"/>
            <a:r>
              <a:rPr lang="en-US" sz="1500" b="1" dirty="0"/>
              <a:t>Academic Background:</a:t>
            </a:r>
            <a:r>
              <a:rPr lang="en-US" sz="1500" dirty="0"/>
              <a:t> Students from </a:t>
            </a:r>
            <a:r>
              <a:rPr lang="en-US" sz="1500" b="1" dirty="0"/>
              <a:t>Science &amp; Tech</a:t>
            </a:r>
            <a:r>
              <a:rPr lang="en-US" sz="1500" dirty="0"/>
              <a:t> backgrounds achieved the </a:t>
            </a:r>
            <a:r>
              <a:rPr lang="en-US" sz="1500" b="1" dirty="0"/>
              <a:t>highest average salary (~₹2.19 LPA)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Specialization:</a:t>
            </a:r>
            <a:r>
              <a:rPr lang="en-US" sz="1500" dirty="0"/>
              <a:t> </a:t>
            </a:r>
            <a:r>
              <a:rPr lang="en-US" sz="1500" b="1" dirty="0"/>
              <a:t>Marketing &amp; Finance</a:t>
            </a:r>
            <a:r>
              <a:rPr lang="en-US" sz="1500" dirty="0"/>
              <a:t> students earned </a:t>
            </a:r>
            <a:r>
              <a:rPr lang="en-US" sz="1500" b="1" dirty="0"/>
              <a:t>57% higher salaries</a:t>
            </a:r>
            <a:r>
              <a:rPr lang="en-US" sz="1500" dirty="0"/>
              <a:t> and had better placement rates than </a:t>
            </a:r>
            <a:r>
              <a:rPr lang="en-US" sz="1500" b="1" dirty="0"/>
              <a:t>Marketing &amp; HR</a:t>
            </a:r>
            <a:r>
              <a:rPr lang="en-US" sz="1500" dirty="0"/>
              <a:t> students.</a:t>
            </a:r>
          </a:p>
          <a:p>
            <a:pPr lvl="1"/>
            <a:r>
              <a:rPr lang="en-US" sz="1500" b="1" dirty="0"/>
              <a:t>CGPA Correlation:</a:t>
            </a:r>
            <a:r>
              <a:rPr lang="en-US" sz="1500" dirty="0"/>
              <a:t> Salary increased steadily with CGPA — students with </a:t>
            </a:r>
            <a:r>
              <a:rPr lang="en-US" sz="1500" b="1" dirty="0"/>
              <a:t>8–9 CGPA</a:t>
            </a:r>
            <a:r>
              <a:rPr lang="en-US" sz="1500" dirty="0"/>
              <a:t> earned an </a:t>
            </a:r>
            <a:r>
              <a:rPr lang="en-US" sz="1500" b="1" dirty="0"/>
              <a:t>average ₹3.45 LPA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Work Experience:</a:t>
            </a:r>
            <a:r>
              <a:rPr lang="en-US" sz="1500" dirty="0"/>
              <a:t> Students with prior work experience showed </a:t>
            </a:r>
            <a:r>
              <a:rPr lang="en-US" sz="1500" b="1" dirty="0"/>
              <a:t>slightly higher placement success and pay levels</a:t>
            </a:r>
            <a:r>
              <a:rPr lang="en-US" sz="1500" dirty="0"/>
              <a:t>.</a:t>
            </a:r>
          </a:p>
          <a:p>
            <a:pPr marL="457200" lvl="1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b="1" dirty="0"/>
              <a:t>Average Salary (Placed Students):</a:t>
            </a:r>
            <a:r>
              <a:rPr lang="en-US" sz="1500" dirty="0"/>
              <a:t> ₹4.5 LPA</a:t>
            </a:r>
          </a:p>
          <a:p>
            <a:pPr lvl="1"/>
            <a:r>
              <a:rPr lang="en-US" sz="1500" b="1" dirty="0"/>
              <a:t>Highest Salary:</a:t>
            </a:r>
            <a:r>
              <a:rPr lang="en-US" sz="1500" dirty="0"/>
              <a:t> ₹9.6 LPA</a:t>
            </a:r>
          </a:p>
          <a:p>
            <a:pPr lvl="1"/>
            <a:r>
              <a:rPr lang="en-US" sz="1500" b="1" dirty="0"/>
              <a:t>Lowest Salary:</a:t>
            </a:r>
            <a:r>
              <a:rPr lang="en-US" sz="1500" dirty="0"/>
              <a:t> ₹2.4 LPA</a:t>
            </a:r>
          </a:p>
          <a:p>
            <a:pPr lvl="1"/>
            <a:r>
              <a:rPr lang="en-US" sz="1500" b="1" dirty="0"/>
              <a:t>Placement by Specialization:</a:t>
            </a:r>
            <a:r>
              <a:rPr lang="en-US" sz="1500" dirty="0"/>
              <a:t> </a:t>
            </a:r>
            <a:r>
              <a:rPr lang="en-US" sz="1500" dirty="0" err="1"/>
              <a:t>Mkt&amp;Fin</a:t>
            </a:r>
            <a:r>
              <a:rPr lang="en-US" sz="1500" dirty="0"/>
              <a:t> – 72%, </a:t>
            </a:r>
            <a:r>
              <a:rPr lang="en-US" sz="1500" dirty="0" err="1"/>
              <a:t>Mkt&amp;HR</a:t>
            </a:r>
            <a:r>
              <a:rPr lang="en-US" sz="1500" dirty="0"/>
              <a:t> – 61%</a:t>
            </a:r>
          </a:p>
          <a:p>
            <a:pPr lvl="1"/>
            <a:r>
              <a:rPr lang="en-US" sz="1500" b="1" dirty="0"/>
              <a:t>Trend:</a:t>
            </a:r>
            <a:r>
              <a:rPr lang="en-US" sz="1500" dirty="0"/>
              <a:t> Clear positive correlation between CGPA and Salary</a:t>
            </a:r>
          </a:p>
        </p:txBody>
      </p:sp>
    </p:spTree>
    <p:extLst>
      <p:ext uri="{BB962C8B-B14F-4D97-AF65-F5344CB8AC3E}">
        <p14:creationId xmlns:p14="http://schemas.microsoft.com/office/powerpoint/2010/main" val="207724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FEF6-FBC2-8C2D-E94E-C7D519DB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377"/>
            <a:ext cx="12192000" cy="1623311"/>
          </a:xfrm>
        </p:spPr>
        <p:txBody>
          <a:bodyPr/>
          <a:lstStyle/>
          <a:p>
            <a:r>
              <a:rPr lang="en-US" dirty="0"/>
              <a:t>📍 </a:t>
            </a:r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1E653-64CA-2200-6F6E-3D1AE5426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28446"/>
            <a:ext cx="12191998" cy="4682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Summary:</a:t>
            </a:r>
            <a:br>
              <a:rPr lang="en-US" sz="1600" dirty="0"/>
            </a:br>
            <a:r>
              <a:rPr lang="en-US" sz="1600" dirty="0"/>
              <a:t>The placement analysis of </a:t>
            </a:r>
            <a:r>
              <a:rPr lang="en-US" sz="1600" i="1" dirty="0"/>
              <a:t>Allen Brook College of Data Engineering (ABCDE)</a:t>
            </a:r>
            <a:r>
              <a:rPr lang="en-US" sz="1600" dirty="0"/>
              <a:t> reveals distinct trends in student performance and employment outcomes.</a:t>
            </a:r>
            <a:br>
              <a:rPr lang="en-US" sz="1600" dirty="0"/>
            </a:br>
            <a:endParaRPr lang="en-US" sz="1600" dirty="0"/>
          </a:p>
          <a:p>
            <a:pPr lvl="1"/>
            <a:r>
              <a:rPr lang="en-US" sz="1600" b="1" dirty="0"/>
              <a:t>Science &amp; Technology</a:t>
            </a:r>
            <a:r>
              <a:rPr lang="en-US" sz="1600" dirty="0"/>
              <a:t> students consistently secure the </a:t>
            </a:r>
            <a:r>
              <a:rPr lang="en-US" sz="1600" b="1" dirty="0"/>
              <a:t>highest salary packages</a:t>
            </a:r>
            <a:r>
              <a:rPr lang="en-US" sz="1600" dirty="0"/>
              <a:t>, while </a:t>
            </a:r>
            <a:r>
              <a:rPr lang="en-US" sz="1600" b="1" dirty="0"/>
              <a:t>Commerce &amp; Management</a:t>
            </a:r>
            <a:r>
              <a:rPr lang="en-US" sz="1600" dirty="0"/>
              <a:t> has higher student participation.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A </a:t>
            </a:r>
            <a:r>
              <a:rPr lang="en-US" sz="1600" b="1" dirty="0"/>
              <a:t>strong positive correlation</a:t>
            </a:r>
            <a:r>
              <a:rPr lang="en-US" sz="1600" dirty="0"/>
              <a:t> exists between </a:t>
            </a:r>
            <a:r>
              <a:rPr lang="en-US" sz="1600" b="1" dirty="0"/>
              <a:t>CGPA and salary</a:t>
            </a:r>
            <a:r>
              <a:rPr lang="en-US" sz="1600" dirty="0"/>
              <a:t>, confirming that academic excellence directly enhances placement prospects.</a:t>
            </a:r>
          </a:p>
          <a:p>
            <a:pPr lvl="1"/>
            <a:endParaRPr lang="en-US" sz="1600" b="1" dirty="0"/>
          </a:p>
          <a:p>
            <a:pPr lvl="1"/>
            <a:r>
              <a:rPr lang="en-US" sz="1600" b="1" dirty="0"/>
              <a:t>Specialization and gender</a:t>
            </a:r>
            <a:r>
              <a:rPr lang="en-US" sz="1600" dirty="0"/>
              <a:t> continue to influence placement outcomes, highlighting areas for institutional focus.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interactive dashboard delivers a </a:t>
            </a:r>
            <a:r>
              <a:rPr lang="en-US" sz="1600" b="1" dirty="0"/>
              <a:t>concise, data-driven overview</a:t>
            </a:r>
            <a:r>
              <a:rPr lang="en-US" sz="1600" dirty="0"/>
              <a:t> of college placement performance — enabling administrators to refine </a:t>
            </a:r>
            <a:r>
              <a:rPr lang="en-US" sz="1600" b="1" dirty="0"/>
              <a:t>career support strategies</a:t>
            </a:r>
            <a:r>
              <a:rPr lang="en-US" sz="1600" dirty="0"/>
              <a:t>, align </a:t>
            </a:r>
            <a:r>
              <a:rPr lang="en-US" sz="1600" b="1" dirty="0"/>
              <a:t>curriculum with industry trends</a:t>
            </a:r>
            <a:r>
              <a:rPr lang="en-US" sz="1600" dirty="0"/>
              <a:t>, and help students understand </a:t>
            </a:r>
            <a:r>
              <a:rPr lang="en-US" sz="1600" b="1" dirty="0"/>
              <a:t>key drivers of salary and employability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Overall, this project demonstrates the power of </a:t>
            </a:r>
            <a:r>
              <a:rPr lang="en-US" sz="1600" b="1" dirty="0"/>
              <a:t>data analytics in driving academic and placement excellence</a:t>
            </a:r>
            <a:r>
              <a:rPr lang="en-US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778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04B8-5813-9B83-C88B-8F06397B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9649"/>
          </a:xfrm>
        </p:spPr>
        <p:txBody>
          <a:bodyPr/>
          <a:lstStyle/>
          <a:p>
            <a:r>
              <a:rPr lang="en-US" dirty="0"/>
              <a:t>🖥️</a:t>
            </a:r>
            <a:r>
              <a:rPr lang="en-US" b="1" dirty="0"/>
              <a:t>Dashboard Overview</a:t>
            </a:r>
            <a:endParaRPr lang="en-US" dirty="0"/>
          </a:p>
        </p:txBody>
      </p:sp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83B0E7E4-788A-BE9C-739E-4F1F32EAA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1009649"/>
            <a:ext cx="12141200" cy="5848349"/>
          </a:xfrm>
        </p:spPr>
      </p:pic>
    </p:spTree>
    <p:extLst>
      <p:ext uri="{BB962C8B-B14F-4D97-AF65-F5344CB8AC3E}">
        <p14:creationId xmlns:p14="http://schemas.microsoft.com/office/powerpoint/2010/main" val="374321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DE8A-8221-E7CC-409D-5614E40B2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4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College Administration &amp; Management:</a:t>
            </a:r>
            <a:br>
              <a:rPr lang="en-US" sz="1500" dirty="0"/>
            </a:br>
            <a:r>
              <a:rPr lang="en-US" sz="1500" dirty="0"/>
              <a:t>Leverage placement analytics to evaluate program performance, identify academic strengths and gaps, and plan strategic improvements in training and curriculum.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Training &amp; Placement Cell:</a:t>
            </a:r>
            <a:br>
              <a:rPr lang="en-US" sz="1500" dirty="0"/>
            </a:br>
            <a:r>
              <a:rPr lang="en-US" sz="1500" dirty="0"/>
              <a:t>Use data-driven insights to monitor placement trends, target underperforming student groups, and strengthen industry partnerships through transparent reporting.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Faculty &amp; Academic Departments:</a:t>
            </a:r>
            <a:br>
              <a:rPr lang="en-US" sz="1500" dirty="0"/>
            </a:br>
            <a:r>
              <a:rPr lang="en-US" sz="1500" dirty="0"/>
              <a:t>Understand how academic background and specialization influence placement outcomes, guiding curriculum updates and mentorship strategies.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Students &amp; Career Advisors:</a:t>
            </a:r>
            <a:br>
              <a:rPr lang="en-US" sz="1500" dirty="0"/>
            </a:br>
            <a:r>
              <a:rPr lang="en-US" sz="1500" dirty="0"/>
              <a:t>Gain awareness of how CGPA, specialization, and skill development affect placement chances and salary expectations, helping tailor preparation plans.</a:t>
            </a:r>
          </a:p>
          <a:p>
            <a:pPr lvl="1"/>
            <a:endParaRPr lang="en-US" sz="1500" dirty="0"/>
          </a:p>
          <a:p>
            <a:pPr lvl="1"/>
            <a:r>
              <a:rPr lang="en-US" sz="1500" b="1" dirty="0"/>
              <a:t>Recruiters &amp; Industry Partners:</a:t>
            </a:r>
            <a:br>
              <a:rPr lang="en-US" sz="1500" dirty="0"/>
            </a:br>
            <a:r>
              <a:rPr lang="en-US" sz="1500" dirty="0"/>
              <a:t>Access data-supported insights on student quality, academic diversity, and performance trends to optimize recruitment strategies and hiring pipelines.</a:t>
            </a:r>
          </a:p>
          <a:p>
            <a:pPr lvl="1"/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B13908-EFB8-3EB9-D2D0-C74A96BEB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387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431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312E-E095-11B1-2E4F-C052CA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80AE-97C9-723D-BDEE-EF026E7D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7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EABD-1638-7E2F-9F25-4B5A994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5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3652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9160</TotalTime>
  <Words>1301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Allen Brook College of Data Engineering (ABCDE) - Placement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 Conclusion</vt:lpstr>
      <vt:lpstr>🖥️Dashboard Overview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42</cp:revision>
  <dcterms:created xsi:type="dcterms:W3CDTF">2025-09-09T12:03:39Z</dcterms:created>
  <dcterms:modified xsi:type="dcterms:W3CDTF">2026-01-05T11:35:07Z</dcterms:modified>
</cp:coreProperties>
</file>